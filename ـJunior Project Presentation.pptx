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E7B35D6-B214-F97A-A70C-E2589C03C307}">
          <p14:sldIdLst>
            <p14:sldId id="256"/>
          </p14:sldIdLst>
        </p14:section>
        <p14:section name="Introduction" id="{3AD13638-C9CB-F6AE-1AD1-A7EAD103EFC7}">
          <p14:sldIdLst>
            <p14:sldId id="257"/>
            <p14:sldId id="258"/>
          </p14:sldIdLst>
        </p14:section>
        <p14:section name="Literature Review" id="{396EDB03-AF2E-8A16-4098-429D31007230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ethod" id="{7AC091AD-E96D-5373-4B86-08AE633BCFB7}">
          <p14:sldIdLst>
            <p14:sldId id="266"/>
            <p14:sldId id="267"/>
            <p14:sldId id="268"/>
          </p14:sldIdLst>
        </p14:section>
        <p14:section name="Wrap-up" id="{DE77B1F3-BB9C-77D3-CEB0-5DD1FDAA9570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AAB4C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914400"/>
            <a:ext cx="8046720" cy="1554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BFE3E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914400"/>
            <a:ext cx="8046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AI-Assisted Tumor Segmentation and Margin Distance Estimation in Breast Histopathology Images</a:t>
            </a:r>
            <a:endParaRPr lang="en-US" sz="2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FE3E3"/>
                </a:solidFill>
              </a:rPr>
              <a:t>A Proof-of-Concept Study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AB4C5"/>
                </a:solidFill>
              </a:rPr>
              <a:t>Prepared by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Hala Hamza Rawashdeh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Razan Mohammad Essam Al-Jabban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365760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AB4C5"/>
                </a:solidFill>
              </a:rPr>
              <a:t>Supervised by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Dr. Nisreen Suleiman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Eng. Zainab Baghdadi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4C5"/>
                </a:solidFill>
              </a:rPr>
              <a:t>Faculty of AI Engineering · Syrian Private University · 2026–2027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Introduction: Why Margins Matter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846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≈20%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of invasive-cancer patients have a positive margin after the first excision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Maris et al., 2025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57200" y="2176272"/>
            <a:ext cx="4846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640080" y="2176272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3–5 days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17627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typical wait for the pathology margin result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Maris et al., 2025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57200" y="3163824"/>
            <a:ext cx="4846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640080" y="3163824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mm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163824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alert threshold used in this project (configurable)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Close-margin definition: Veluponnar, 2023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532120" y="1188720"/>
            <a:ext cx="3154680" cy="2880360"/>
          </a:xfrm>
          <a:prstGeom prst="roundRect">
            <a:avLst>
              <a:gd name="adj" fmla="val 3175"/>
            </a:avLst>
          </a:prstGeom>
          <a:solidFill>
            <a:schemeClr val="bg2"/>
          </a:solidFill>
        </p:spPr>
      </p:sp>
      <p:sp>
        <p:nvSpPr>
          <p:cNvPr id="13" name="Tissue"/>
          <p:cNvSpPr/>
          <p:nvPr/>
        </p:nvSpPr>
        <p:spPr>
          <a:xfrm>
            <a:off x="5715000" y="1417320"/>
            <a:ext cx="2788920" cy="1965960"/>
          </a:xfrm>
          <a:prstGeom prst="ellipse">
            <a:avLst/>
          </a:prstGeom>
          <a:solidFill>
            <a:srgbClr val="F3D9E0"/>
          </a:solidFill>
          <a:ln w="19050">
            <a:solidFill>
              <a:srgbClr val="D9A5B5"/>
            </a:solidFill>
            <a:prstDash val="solid"/>
          </a:ln>
        </p:spPr>
      </p:sp>
      <p:sp>
        <p:nvSpPr>
          <p:cNvPr id="14" name="Tumor"/>
          <p:cNvSpPr/>
          <p:nvPr/>
        </p:nvSpPr>
        <p:spPr>
          <a:xfrm>
            <a:off x="6126480" y="1920240"/>
            <a:ext cx="1051560" cy="914400"/>
          </a:xfrm>
          <a:prstGeom prst="ellipse">
            <a:avLst/>
          </a:prstGeom>
          <a:solidFill>
            <a:srgbClr val="A62B5C"/>
          </a:solidFill>
          <a:ln w="12700">
            <a:solidFill>
              <a:srgbClr val="7A1F43"/>
            </a:solidFill>
            <a:prstDash val="solid"/>
          </a:ln>
        </p:spPr>
      </p:sp>
      <p:sp>
        <p:nvSpPr>
          <p:cNvPr id="15" name="MarginArrow"/>
          <p:cNvSpPr/>
          <p:nvPr/>
        </p:nvSpPr>
        <p:spPr>
          <a:xfrm>
            <a:off x="7178040" y="2377440"/>
            <a:ext cx="914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040880" y="1965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margin = ? mm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8803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tumor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8803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tissue edge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H&amp;E tissue section (schematic)</a:t>
            </a:r>
            <a:endParaRPr lang="en-US" sz="1200" dirty="0"/>
          </a:p>
        </p:txBody>
      </p:sp>
      <p:sp>
        <p:nvSpPr>
          <p:cNvPr id="20" name="Takeaway"/>
          <p:cNvSpPr/>
          <p:nvPr/>
        </p:nvSpPr>
        <p:spPr>
          <a:xfrm>
            <a:off x="457200" y="4206240"/>
            <a:ext cx="777240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</p:spPr>
      </p:sp>
      <p:sp>
        <p:nvSpPr>
          <p:cNvPr id="21" name="Text 19"/>
          <p:cNvSpPr txBox="1"/>
          <p:nvPr/>
        </p:nvSpPr>
        <p:spPr>
          <a:xfrm>
            <a:off x="685800" y="42062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Idea: segment the tumor on microscope images and measure the margin in millimetres, live. A proof of concept for decision support, not a medical device.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4" name="IconCircle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5" name="Image 0" descr="FaClo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" y="16482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Clinical need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Margin results arrive days late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Positive margin means a second surgery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9" name="IconCircle"/>
          <p:cNvSpPr/>
          <p:nvPr/>
        </p:nvSpPr>
        <p:spPr>
          <a:xfrm>
            <a:off x="3474720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FaCo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886" y="164820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challenge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7889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Segment the tumor, then measure in mm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Domain shift: public data vs. our microscope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4" name="IconCircle"/>
          <p:cNvSpPr/>
          <p:nvPr/>
        </p:nvSpPr>
        <p:spPr>
          <a:xfrm>
            <a:off x="6263640" y="1463040"/>
            <a:ext cx="685800" cy="68580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5" name="Image 2" descr="FaChart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164820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issue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889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High Dice does not guarantee a correct margin call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 need mm error and latency per frame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Review: Three Directions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4" name="IconCircle"/>
          <p:cNvSpPr/>
          <p:nvPr/>
        </p:nvSpPr>
        <p:spPr>
          <a:xfrm>
            <a:off x="685800" y="1444752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5" name="Image 0" descr="FaVide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617574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44752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Ultrasound navigation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Shao et al., 2025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Veluponnar et al., 2023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Yeung et al., 2024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31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Real-time, but boxes or classes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24612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0" name="IconCircle"/>
          <p:cNvSpPr/>
          <p:nvPr/>
        </p:nvSpPr>
        <p:spPr>
          <a:xfrm>
            <a:off x="3474720" y="1444752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FaLayerGro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61757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444752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Specimen imaging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28600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Maris et al., 2025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arXiv:2404.10600, 2024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Ward et al., 2025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931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Mask to margin, large errors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03504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6" name="IconCircle"/>
          <p:cNvSpPr/>
          <p:nvPr/>
        </p:nvSpPr>
        <p:spPr>
          <a:xfrm>
            <a:off x="6263640" y="1444752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7" name="Image 2" descr="FaMicrosc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62" y="1617574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5160" y="1444752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Histology and methods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28600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Amgad et al., 2019 (BCSS)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Multi-magnification net, 2021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Alhsnony &amp; Sellami, 2024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Zheng et al., 2026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931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Cell-level detail, offline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Direction 1: Ultrasound Navigation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Shao, 2025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YOLO11 tracks the tumor and the tool in real time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1.2 ms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per frame on GPU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Boxes only, no mm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342900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Veluponnar, 2023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Ensemble of 8 networks on lumpectomy ultrasound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96% / 76%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sensitivity / specificity for close margin (≤ 2 mm)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 Dice 0.88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Yeung, 2024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16 models, 7,318 images from 33 patients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0.959 vs 0.433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Dice vs. specificity against pathology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Weak margin call</a:t>
            </a:r>
            <a:endParaRPr lang="en-US" sz="1600" dirty="0"/>
          </a:p>
        </p:txBody>
      </p:sp>
      <p:sp>
        <p:nvSpPr>
          <p:cNvPr id="21" name="Takeaway"/>
          <p:cNvSpPr/>
          <p:nvPr/>
        </p:nvSpPr>
        <p:spPr>
          <a:xfrm>
            <a:off x="457200" y="4279392"/>
            <a:ext cx="777240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</p:spPr>
      </p:sp>
      <p:sp>
        <p:nvSpPr>
          <p:cNvPr id="22" name="Text 20"/>
          <p:cNvSpPr txBox="1"/>
          <p:nvPr/>
        </p:nvSpPr>
        <p:spPr>
          <a:xfrm>
            <a:off x="685800" y="427939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Takeaway: fast and promising, but good segmentation alone does not guarantee a correct margin decision.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Direction 2: Specimen Imaging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Maris, 2025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ResU-Net on micro-PET-CT images of lumpectomy specimens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patients in the segmentation data 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Margin vs. histology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342900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arXiv:2404.10600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Thresholding + SegNet on specimen mammograms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6.53 ± 5.84 mm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mean gap to manual margin, 30 cases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Closest to ours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Ward, 2025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71907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SAM refines coarse masks on specimen radiographs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48716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AUC 0.846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999232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margin classification, 47 ms per image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Image-level output</a:t>
            </a:r>
            <a:endParaRPr lang="en-US" sz="1600" dirty="0"/>
          </a:p>
        </p:txBody>
      </p:sp>
      <p:sp>
        <p:nvSpPr>
          <p:cNvPr id="21" name="Takeaway"/>
          <p:cNvSpPr/>
          <p:nvPr/>
        </p:nvSpPr>
        <p:spPr>
          <a:xfrm>
            <a:off x="457200" y="4279392"/>
            <a:ext cx="777240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</p:spPr>
      </p:sp>
      <p:sp>
        <p:nvSpPr>
          <p:cNvPr id="22" name="Text 20"/>
          <p:cNvSpPr txBox="1"/>
          <p:nvPr/>
        </p:nvSpPr>
        <p:spPr>
          <a:xfrm>
            <a:off x="685800" y="427939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Context: specimen mammography, widely used intra-operatively, has a pooled sensitivity of only 0.55 (meta-analysis, 20 studies).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Direction 3: Histology and Methods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Amgad et al., 2019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BCSS: 151 H&amp;E slides, 20,000+ annotated regions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85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Our training data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89120" y="118872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</p:spPr>
      </p:sp>
      <p:sp>
        <p:nvSpPr>
          <p:cNvPr id="8" name="Text 6"/>
          <p:cNvSpPr txBox="1"/>
          <p:nvPr/>
        </p:nvSpPr>
        <p:spPr>
          <a:xfrm>
            <a:off x="4617720" y="12984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Multi-magnification net, 2021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6916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Segments carcinoma on scanned shave-margin slides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585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Histology margin work, but offline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57200" y="283464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</p:spPr>
      </p:sp>
      <p:sp>
        <p:nvSpPr>
          <p:cNvPr id="12" name="Text 10"/>
          <p:cNvSpPr txBox="1"/>
          <p:nvPr/>
        </p:nvSpPr>
        <p:spPr>
          <a:xfrm>
            <a:off x="685800" y="29443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Alhsnony &amp; Sellami, 2024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375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YOLOv8-seg for breast lesions on mammograms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0448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Training-setup reference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389120" y="283464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4617720" y="29443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Zheng et al., 2026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3375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YOLOv8 vs. YOLOv12 on colon-surgery video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90448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YOLO version comparison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2021 histology study works on whole-slide scans after the operation, not on live microscope frames.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Literature Tells Us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65960" cy="3063240"/>
          </a:xfrm>
          <a:prstGeom prst="roundRect">
            <a:avLst>
              <a:gd name="adj" fmla="val 4651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Dice, yet only 0.433 specificity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17520"/>
            <a:ext cx="16916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High Dice does not guarantee a correct margin call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2542032" y="1234440"/>
            <a:ext cx="1965960" cy="3063240"/>
          </a:xfrm>
          <a:prstGeom prst="roundRect">
            <a:avLst>
              <a:gd name="adj" fmla="val 4651"/>
            </a:avLst>
          </a:prstGeom>
          <a:solidFill>
            <a:schemeClr val="bg2"/>
          </a:solidFill>
        </p:spPr>
      </p:sp>
      <p:sp>
        <p:nvSpPr>
          <p:cNvPr id="8" name="Text 6"/>
          <p:cNvSpPr txBox="1"/>
          <p:nvPr/>
        </p:nvSpPr>
        <p:spPr>
          <a:xfrm>
            <a:off x="2679192" y="13716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6.53 mm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1031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error of a distance-based pipeline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3017520"/>
            <a:ext cx="16916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Margins must be judged in millimetres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626864" y="1234440"/>
            <a:ext cx="1965960" cy="3063240"/>
          </a:xfrm>
          <a:prstGeom prst="roundRect">
            <a:avLst>
              <a:gd name="adj" fmla="val 4651"/>
            </a:avLst>
          </a:prstGeom>
          <a:solidFill>
            <a:schemeClr val="bg2"/>
          </a:solidFill>
        </p:spPr>
      </p:sp>
      <p:sp>
        <p:nvSpPr>
          <p:cNvPr id="12" name="Text 10"/>
          <p:cNvSpPr txBox="1"/>
          <p:nvPr/>
        </p:nvSpPr>
        <p:spPr>
          <a:xfrm>
            <a:off x="4764024" y="13716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1.2 ms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1031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per frame for real-time YOLO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3017520"/>
            <a:ext cx="16916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YOLO-class models are fast enough for live use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6711696" y="1234440"/>
            <a:ext cx="1965960" cy="3063240"/>
          </a:xfrm>
          <a:prstGeom prst="roundRect">
            <a:avLst>
              <a:gd name="adj" fmla="val 4651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6848856" y="13716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0.55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21031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pooled sensitivity of specimen mammography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3017520"/>
            <a:ext cx="16916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Intra-operative tools leave room to improve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Our Work Fits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234440"/>
          <a:ext cx="8229600" cy="3374136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9260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6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delivers</a:t>
                      </a:r>
                      <a:endParaRPr lang="en-US" sz="16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is missing</a:t>
                      </a:r>
                      <a:endParaRPr lang="en-US" sz="16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Ultrasound navigation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Real-time boxes or masks; margin class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No distance in mm; Dice is not margin accuracy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Specimen imaging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Margin status or width from specimen images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Large errors (6.53 mm); no cellular detail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Histology (scanned slides)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Accurate tissue segmentation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Offline; no live microscope; no mm distance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Our proof of concept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YOLO-seg on H&amp;E, distance in mm, live frames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Domain-shift study: public data to our microscope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 Gap</a:t>
            </a:r>
            <a:endParaRPr lang="en-US" sz="3200" dirty="0"/>
          </a:p>
        </p:txBody>
      </p:sp>
      <p:sp>
        <p:nvSpPr>
          <p:cNvPr id="3" name="GapNumber"/>
          <p:cNvSpPr/>
          <p:nvPr/>
        </p:nvSpPr>
        <p:spPr>
          <a:xfrm>
            <a:off x="457200" y="1261872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6995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Real-time margin AI relies on ultrasound, PET-CT or mammography, not on microscope histology</a:t>
            </a:r>
            <a:endParaRPr lang="en-US" sz="2000" dirty="0"/>
          </a:p>
        </p:txBody>
      </p:sp>
      <p:sp>
        <p:nvSpPr>
          <p:cNvPr id="6" name="GapNumber"/>
          <p:cNvSpPr/>
          <p:nvPr/>
        </p:nvSpPr>
        <p:spPr>
          <a:xfrm>
            <a:off x="457200" y="2130552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7" name="Text 5"/>
          <p:cNvSpPr txBox="1"/>
          <p:nvPr/>
        </p:nvSpPr>
        <p:spPr>
          <a:xfrm>
            <a:off x="457200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57400"/>
            <a:ext cx="6995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Closest works: boxes only (Shao, 2025) or a 6.53 ± 5.84 mm error (arXiv, 2024)</a:t>
            </a:r>
            <a:endParaRPr lang="en-US" sz="2000" dirty="0"/>
          </a:p>
        </p:txBody>
      </p:sp>
      <p:sp>
        <p:nvSpPr>
          <p:cNvPr id="9" name="GapNumber"/>
          <p:cNvSpPr/>
          <p:nvPr/>
        </p:nvSpPr>
        <p:spPr>
          <a:xfrm>
            <a:off x="457200" y="2999232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8"/>
          <p:cNvSpPr txBox="1"/>
          <p:nvPr/>
        </p:nvSpPr>
        <p:spPr>
          <a:xfrm>
            <a:off x="457200" y="29992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26080"/>
            <a:ext cx="6995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No study we found quantifies domain shift from a public dataset to a university microscope, fix by fix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457200" y="3840480"/>
            <a:ext cx="77724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Our contribution: </a:t>
            </a:r>
            <a:r>
              <a:rPr lang="en-US" sz="1700" dirty="0">
                <a:solidFill>
                  <a:schemeClr val="bg1"/>
                </a:solidFill>
              </a:rPr>
              <a:t>margin distance in mm on microscope images, distance error as the primary metric, and a quantitative domain-shift study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Input and Output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97480" cy="3383280"/>
          </a:xfrm>
          <a:prstGeom prst="roundRect">
            <a:avLst>
              <a:gd name="adj" fmla="val 3390"/>
            </a:avLst>
          </a:prstGeom>
          <a:solidFill>
            <a:schemeClr val="bg2"/>
          </a:solidFill>
        </p:spPr>
      </p:sp>
      <p:sp>
        <p:nvSpPr>
          <p:cNvPr id="4" name="Icon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5" name="Image 0" descr="FaVide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56545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286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Microscope frames, live or recorded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Calibration in µm per pixel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Configurable alert threshold</a:t>
            </a:r>
            <a:endParaRPr lang="en-US" sz="1800" dirty="0"/>
          </a:p>
        </p:txBody>
      </p:sp>
      <p:sp>
        <p:nvSpPr>
          <p:cNvPr id="8" name="SystemBox"/>
          <p:cNvSpPr/>
          <p:nvPr/>
        </p:nvSpPr>
        <p:spPr>
          <a:xfrm>
            <a:off x="3520440" y="2240280"/>
            <a:ext cx="16916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</p:spPr>
      </p:sp>
      <p:sp>
        <p:nvSpPr>
          <p:cNvPr id="9" name="Text 6"/>
          <p:cNvSpPr txBox="1"/>
          <p:nvPr/>
        </p:nvSpPr>
        <p:spPr>
          <a:xfrm>
            <a:off x="3520440" y="2240280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YOLO-seg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 distance transform</a:t>
            </a:r>
            <a:endParaRPr lang="en-US" sz="1800" dirty="0"/>
          </a:p>
        </p:txBody>
      </p:sp>
      <p:sp>
        <p:nvSpPr>
          <p:cNvPr id="10" name="ArrowIn"/>
          <p:cNvSpPr/>
          <p:nvPr/>
        </p:nvSpPr>
        <p:spPr>
          <a:xfrm>
            <a:off x="3264408" y="2788920"/>
            <a:ext cx="182880" cy="27432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11" name="ArrowOut"/>
          <p:cNvSpPr/>
          <p:nvPr/>
        </p:nvSpPr>
        <p:spPr>
          <a:xfrm>
            <a:off x="5266944" y="2788920"/>
            <a:ext cx="182880" cy="27432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12" name="Card"/>
          <p:cNvSpPr/>
          <p:nvPr/>
        </p:nvSpPr>
        <p:spPr>
          <a:xfrm>
            <a:off x="5532120" y="1234440"/>
            <a:ext cx="3154680" cy="3383280"/>
          </a:xfrm>
          <a:prstGeom prst="roundRect">
            <a:avLst>
              <a:gd name="adj" fmla="val 2899"/>
            </a:avLst>
          </a:prstGeom>
          <a:solidFill>
            <a:schemeClr val="bg2"/>
          </a:solidFill>
        </p:spPr>
      </p:sp>
      <p:sp>
        <p:nvSpPr>
          <p:cNvPr id="13" name="IconCircle"/>
          <p:cNvSpPr/>
          <p:nvPr/>
        </p:nvSpPr>
        <p:spPr>
          <a:xfrm>
            <a:off x="5760720" y="1417320"/>
            <a:ext cx="548640" cy="54864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4" name="Image 1" descr="FaRulerCombin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853" y="156545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46520" y="14173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194560"/>
            <a:ext cx="27432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Tumor mask overlay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Shortest tumor-to-edge distance (mm)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Margin alert below threshold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Latency per frame (target ≈ 40 ms)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 PDF report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and Database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37947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1: BCSS (public)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8288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H&amp;E whole-slide cases, CC0 license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33832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1.0 µm/px, 512×512 patches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Patient-level train/val/test split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Tumor masks converted to YOLO polygons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4434840" y="1234440"/>
            <a:ext cx="42519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2: Local samples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74520"/>
            <a:ext cx="384048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University microscope images, calibrated with a stage micrometer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Healthy animal tissue and lymph node as negative controls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Archived human breast H&amp;E slides, after ethics approval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Labeled by a pathologist (Labelme / QuPath)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4" name="PhaseNumber"/>
          <p:cNvSpPr/>
          <p:nvPr/>
        </p:nvSpPr>
        <p:spPr>
          <a:xfrm>
            <a:off x="685800" y="1417320"/>
            <a:ext cx="566928" cy="56692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1: Model and training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BCSS preparation and split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Macenko stain normalization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YOLOv8-seg / YOLO11-seg vs. U-Net or SegFormer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Dice, IoU, bootstrap CIs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9" name="PhaseNumber"/>
          <p:cNvSpPr/>
          <p:nvPr/>
        </p:nvSpPr>
        <p:spPr>
          <a:xfrm>
            <a:off x="3474720" y="1417320"/>
            <a:ext cx="566928" cy="566928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41732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2: Lab adaptation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Microscope calibration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Zero-shot test, then fine-tuning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Margin = distance transform on mask and tissue edge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Real-time OpenCV pipeline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2"/>
          </a:solidFill>
        </p:spPr>
      </p:sp>
      <p:sp>
        <p:nvSpPr>
          <p:cNvPr id="14" name="PhaseNumber"/>
          <p:cNvSpPr/>
          <p:nvPr/>
        </p:nvSpPr>
        <p:spPr>
          <a:xfrm>
            <a:off x="6263640" y="1417320"/>
            <a:ext cx="566928" cy="566928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41732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Phase 3: Decision support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Rule-based margin status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Guideline retrieval (ChromaDB)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Automatic PDF report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 evaluation and paper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B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18872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Measure tumor margin in mm from microscope images, in real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92808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B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Approach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92808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YOLO-seg trained on BCSS, adapted with calibration and stain normalization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96896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B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Metric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596896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Distance error in mm, plus Dice/IoU and ms per frame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00984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B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Contribution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300984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Fills the histology-microscope gap and quantifies domain shift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05072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B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4005072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Proof of concept on archived FFPE samples, not a clinical device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AAB4C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AAB4C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U Tumor Margin">
  <a:themeElements>
    <a:clrScheme name="SPU Tumor Margin">
      <a:dk1>
        <a:srgbClr val="14213D"/>
      </a:dk1>
      <a:lt1>
        <a:srgbClr val="FFFFFF"/>
      </a:lt1>
      <a:dk2>
        <a:srgbClr val="0B6E75"/>
      </a:dk2>
      <a:lt2>
        <a:srgbClr val="F2F5F8"/>
      </a:lt2>
      <a:accent1>
        <a:srgbClr val="0E8A8A"/>
      </a:accent1>
      <a:accent2>
        <a:srgbClr val="E4572E"/>
      </a:accent2>
      <a:accent3>
        <a:srgbClr val="2A4D8F"/>
      </a:accent3>
      <a:accent4>
        <a:srgbClr val="6B7A90"/>
      </a:accent4>
      <a:accent5>
        <a:srgbClr val="F2A541"/>
      </a:accent5>
      <a:accent6>
        <a:srgbClr val="7B3FA0"/>
      </a:accent6>
      <a:hlink>
        <a:srgbClr val="0E8A8A"/>
      </a:hlink>
      <a:folHlink>
        <a:srgbClr val="6B7A90"/>
      </a:folHlink>
    </a:clrScheme>
    <a:fontScheme name="SPU Tumor Marg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PU Tumor Margin">
  <a:themeElements>
    <a:clrScheme name="SPU Tumor Margin">
      <a:dk1>
        <a:srgbClr val="14213D"/>
      </a:dk1>
      <a:lt1>
        <a:srgbClr val="FFFFFF"/>
      </a:lt1>
      <a:dk2>
        <a:srgbClr val="0B6E75"/>
      </a:dk2>
      <a:lt2>
        <a:srgbClr val="F2F5F8"/>
      </a:lt2>
      <a:accent1>
        <a:srgbClr val="0E8A8A"/>
      </a:accent1>
      <a:accent2>
        <a:srgbClr val="E4572E"/>
      </a:accent2>
      <a:accent3>
        <a:srgbClr val="2A4D8F"/>
      </a:accent3>
      <a:accent4>
        <a:srgbClr val="6B7A90"/>
      </a:accent4>
      <a:accent5>
        <a:srgbClr val="F2A541"/>
      </a:accent5>
      <a:accent6>
        <a:srgbClr val="7B3FA0"/>
      </a:accent6>
      <a:hlink>
        <a:srgbClr val="0E8A8A"/>
      </a:hlink>
      <a:folHlink>
        <a:srgbClr val="6B7A90"/>
      </a:folHlink>
    </a:clrScheme>
    <a:fontScheme name="SPU Tumor Marg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5799</Words>
  <Application>WPS Presentation</Application>
  <PresentationFormat>On-screen Show (16:9)</PresentationFormat>
  <Paragraphs>374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SPU Tumor Margin</vt:lpstr>
      <vt:lpstr>AI-Assisted Tumor Segmentation and Margin Distance Estimation in Breast Histopathology Images</vt:lpstr>
      <vt:lpstr>Introduction: Why Margins Matter</vt:lpstr>
      <vt:lpstr>Problem Statement</vt:lpstr>
      <vt:lpstr>Literature Review: Three Directions</vt:lpstr>
      <vt:lpstr>Direction 1: Ultrasound Navigation</vt:lpstr>
      <vt:lpstr>Direction 2: Specimen Imaging</vt:lpstr>
      <vt:lpstr>Direction 3: Histology and Methods</vt:lpstr>
      <vt:lpstr>What the Literature Tells Us</vt:lpstr>
      <vt:lpstr>Where Our Work Fits</vt:lpstr>
      <vt:lpstr>Research Gap</vt:lpstr>
      <vt:lpstr>Input and Output</vt:lpstr>
      <vt:lpstr>Data and Database</vt:lpstr>
      <vt:lpstr>Methodology</vt:lpstr>
      <vt:lpstr>Summary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Microscopic Tumor Margin Assessment in Breast Histopathology</dc:title>
  <dc:creator>Hala Hamza Rawashdeh, Razan Mohammad Essam Al-Jabban</dc:creator>
  <dc:subject>PptxGenJS Presentation</dc:subject>
  <cp:lastModifiedBy>halar</cp:lastModifiedBy>
  <cp:revision>2</cp:revision>
  <dcterms:created xsi:type="dcterms:W3CDTF">2026-10-28T08:21:00Z</dcterms:created>
  <dcterms:modified xsi:type="dcterms:W3CDTF">2026-10-28T08:23:19Z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ED90F1823FAB45FABD688FA4CE43EB3B_13</vt:lpwstr>
  </property>
  <property fmtid="{D5CDD505-2E9C-101B-9397-08002B2CF9AE}" pid="3" name="KSOProductBuildVer">
    <vt:lpwstr>1033-12.1.0.29162</vt:lpwstr>
  </property>
</Properties>
</file>